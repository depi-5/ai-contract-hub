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79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y Medhat" userId="7f924d4b70ab4403" providerId="LiveId" clId="{209A76DC-AD3D-42B7-B184-E86A437046A0}"/>
    <pc:docChg chg="modSld">
      <pc:chgData name="Fady Medhat" userId="7f924d4b70ab4403" providerId="LiveId" clId="{209A76DC-AD3D-42B7-B184-E86A437046A0}" dt="2026-10-23T00:26:25.642" v="40" actId="20577"/>
      <pc:docMkLst>
        <pc:docMk/>
      </pc:docMkLst>
      <pc:sldChg chg="modSp mod">
        <pc:chgData name="Fady Medhat" userId="7f924d4b70ab4403" providerId="LiveId" clId="{209A76DC-AD3D-42B7-B184-E86A437046A0}" dt="2026-10-23T00:26:25.642" v="40" actId="20577"/>
        <pc:sldMkLst>
          <pc:docMk/>
          <pc:sldMk cId="616901336" sldId="279"/>
        </pc:sldMkLst>
        <pc:spChg chg="mod">
          <ac:chgData name="Fady Medhat" userId="7f924d4b70ab4403" providerId="LiveId" clId="{209A76DC-AD3D-42B7-B184-E86A437046A0}" dt="2026-10-23T00:26:25.642" v="40" actId="20577"/>
          <ac:spMkLst>
            <pc:docMk/>
            <pc:sldMk cId="616901336" sldId="279"/>
            <ac:spMk id="4" creationId="{5A660A47-4B7D-43CE-AAF8-9A52BAFDEE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2733-51FB-B1DD-A103-73379BD1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125AD-37A2-2ACD-B3FC-5D8C88619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36B92-A93E-6630-C135-AE1186322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95136-F425-6CB9-9F22-E0A2B42571C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0854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5751933-417D-4CCF-B05C-2F2B149A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00941AA-C64F-4620-B45F-CA981CB7E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9EEF33A-93E8-435B-B5A3-7FB5B8F9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576020-5512-46F8-8D55-80DD7B0B0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EA4895-14FD-4353-A3DE-D8F2DA225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8F29F97-3525-4E2F-B2D7-94269246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9E474FD-98AD-4573-8757-EF37B3FA5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F612A20-D14D-4973-B3A2-01CFA2F65A6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E6FB05-2442-4625-8ACF-8F4D9F25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52F1FF9-E3EC-42C0-BC81-ECD649281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A9E642-4DCB-43B7-A522-6E14E105E0C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6DB2B9-79A1-455A-AADC-3B100F45525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DDBD7D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89F60-9B5F-4421-9F6F-626A168C30C1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9916886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Bilingual </a:t>
            </a:r>
            <a:r>
              <a:rPr lang="en-GB" sz="32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322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nitial</a:t>
            </a:r>
            <a:r>
              <a:rPr sz="32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n-GB" sz="3225" dirty="0"/>
              <a:t>R</a:t>
            </a:r>
            <a:r>
              <a:rPr sz="322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eview</a:t>
            </a:r>
            <a:r>
              <a:rPr lang="en-GB" sz="3225" dirty="0"/>
              <a:t> </a:t>
            </a:r>
            <a:r>
              <a:rPr sz="32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of Service</a:t>
            </a:r>
            <a:r>
              <a:rPr lang="en-GB" sz="32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2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Agreements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78394-8EC8-4E8D-8691-A4853E24629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DDBD7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A7AEC7-B3AC-4DA6-96D0-0799274A3CF9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00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rPr>
              <a:t>DEPI Capstone Project</a:t>
            </a:r>
          </a:p>
          <a:p>
            <a:pPr>
              <a:buNone/>
              <a:def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DBD7D"/>
                </a:solidFill>
                <a:latin typeface="DejaVu Sans"/>
                <a:ea typeface="DejaVu Sans"/>
                <a:cs typeface="DejaVu Sans"/>
              </a:rPr>
              <a:t>Applied AI Agents for Legal Professionals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801CA-155E-481E-B8B9-A79181E53692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Committee Presentation  /  October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0482BD-B11A-4B4F-A7AE-0552F2E98CC9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DBD7D"/>
                </a:solidFill>
                <a:latin typeface="DejaVu Sans"/>
                <a:ea typeface="DejaVu Sans"/>
                <a:cs typeface="DejaVu Sans"/>
              </a:rPr>
              <a:t>CAI5_IND6_G1  •  Group (2)</a:t>
            </a:r>
          </a:p>
        </p:txBody>
      </p:sp>
    </p:spTree>
    <p:extLst>
      <p:ext uri="{BB962C8B-B14F-4D97-AF65-F5344CB8AC3E}">
        <p14:creationId xmlns:p14="http://schemas.microsoft.com/office/powerpoint/2010/main" val="138258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6E7D4F-D82C-40BF-A5F3-F66AFC5C14C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Project 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A94C9E-7A98-433C-B240-553A57B38CF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CAI5_IND6_G1     Group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2381E-3F81-409C-A8C7-0384D9DD76F7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7489B-226C-45C5-83F6-8A64FB7389C7}"/>
              </a:ext>
            </a:extLst>
          </p:cNvPr>
          <p:cNvSpPr>
            <a:spLocks noGrp="1"/>
          </p:cNvSpPr>
          <p:nvPr/>
        </p:nvSpPr>
        <p:spPr>
          <a:xfrm>
            <a:off x="1428750" y="2143125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Eman Mohamed Mahmoud Khodry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236F6-BE91-4FE7-9FA6-3B807F54FD03}"/>
              </a:ext>
            </a:extLst>
          </p:cNvPr>
          <p:cNvSpPr>
            <a:spLocks noGrp="1"/>
          </p:cNvSpPr>
          <p:nvPr/>
        </p:nvSpPr>
        <p:spPr>
          <a:xfrm>
            <a:off x="609600" y="2752725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31727C-EB54-4313-B0ED-2A8193B5B4FD}"/>
              </a:ext>
            </a:extLst>
          </p:cNvPr>
          <p:cNvSpPr>
            <a:spLocks noGrp="1"/>
          </p:cNvSpPr>
          <p:nvPr/>
        </p:nvSpPr>
        <p:spPr>
          <a:xfrm>
            <a:off x="1428750" y="2752725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Ahmed Abdullah Ali Elbana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5DA3AF-3ACF-4B01-A2FF-20A823E867B7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1781DB-398D-436C-A04E-2B4C61FD5FA9}"/>
              </a:ext>
            </a:extLst>
          </p:cNvPr>
          <p:cNvSpPr>
            <a:spLocks noGrp="1"/>
          </p:cNvSpPr>
          <p:nvPr/>
        </p:nvSpPr>
        <p:spPr>
          <a:xfrm>
            <a:off x="1428750" y="3362325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Ahmed Saied Ali Elmezayen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E39C7-8D61-4130-871B-E37012E778DF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514B9-173C-42C4-A08B-74C4C161E573}"/>
              </a:ext>
            </a:extLst>
          </p:cNvPr>
          <p:cNvSpPr>
            <a:spLocks noGrp="1"/>
          </p:cNvSpPr>
          <p:nvPr/>
        </p:nvSpPr>
        <p:spPr>
          <a:xfrm>
            <a:off x="1428750" y="3971925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Mazen Moustafa Elsayed Mohammed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76C85-008C-4041-8D30-769F417AF461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3CDD0D-259E-4FB8-8561-1C0DA7E4F5C9}"/>
              </a:ext>
            </a:extLst>
          </p:cNvPr>
          <p:cNvSpPr>
            <a:spLocks noGrp="1"/>
          </p:cNvSpPr>
          <p:nvPr/>
        </p:nvSpPr>
        <p:spPr>
          <a:xfrm>
            <a:off x="1428750" y="4581525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Mohamed Alm ElDin Ahmed Ammar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507DA8-8BDC-4D5E-A280-F513834A3AFB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56176C-3270-498C-B6B2-14B33DDD8311}"/>
              </a:ext>
            </a:extLst>
          </p:cNvPr>
          <p:cNvSpPr>
            <a:spLocks noGrp="1"/>
          </p:cNvSpPr>
          <p:nvPr/>
        </p:nvSpPr>
        <p:spPr>
          <a:xfrm>
            <a:off x="1428750" y="5191125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Fady Medhat Beshay Ebrahim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B86E3-42C1-4A2E-8034-38EE013EA4B0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804D8D-5B23-46D2-958E-9095571F990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5166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9052B-EE30-53F8-DB6E-1FB81647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E1039E-84F5-2C51-9DE2-A2F2137AB19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The review challenge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E59E7-8268-2ED5-AD11-28AF89C301B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673E7-0985-52B9-9EE0-5A9BC8628A3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474F05-A94C-C421-7CF7-60F68F0F41A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Time-consuming 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B610D-9C27-75CF-E5A9-1F84EC8F602C}"/>
              </a:ext>
            </a:extLst>
          </p:cNvPr>
          <p:cNvSpPr>
            <a:spLocks noGrp="1"/>
          </p:cNvSpPr>
          <p:nvPr/>
        </p:nvSpPr>
        <p:spPr>
          <a:xfrm>
            <a:off x="4143375" y="180975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Manual preparation and contract review take significant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0E83A-0065-2868-9393-27EC54BE26E3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Human error and omissions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648ADE-640D-9F39-64B1-CBF88509E71B}"/>
              </a:ext>
            </a:extLst>
          </p:cNvPr>
          <p:cNvSpPr>
            <a:spLocks noGrp="1"/>
          </p:cNvSpPr>
          <p:nvPr/>
        </p:nvSpPr>
        <p:spPr>
          <a:xfrm>
            <a:off x="4143375" y="30003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Important clauses and risks may be overlooked.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BD657D-823D-15E8-6CCE-CF7F0DF3AA51}"/>
              </a:ext>
            </a:extLst>
          </p:cNvPr>
          <p:cNvSpPr>
            <a:spLocks noGrp="1"/>
          </p:cNvSpPr>
          <p:nvPr/>
        </p:nvSpPr>
        <p:spPr>
          <a:xfrm>
            <a:off x="609600" y="5249636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Understanding the issue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2BAC2-C576-5DFB-CF87-B154432934C7}"/>
              </a:ext>
            </a:extLst>
          </p:cNvPr>
          <p:cNvSpPr>
            <a:spLocks noGrp="1"/>
          </p:cNvSpPr>
          <p:nvPr/>
        </p:nvSpPr>
        <p:spPr>
          <a:xfrm>
            <a:off x="4143375" y="5274129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Identifying the underlying problem requires contractual and business context.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04F33E-E446-B49F-F463-A2B6CB940418}"/>
              </a:ext>
            </a:extLst>
          </p:cNvPr>
          <p:cNvSpPr>
            <a:spLocks noGrp="1"/>
          </p:cNvSpPr>
          <p:nvPr/>
        </p:nvSpPr>
        <p:spPr>
          <a:xfrm>
            <a:off x="609600" y="4313464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Misinterpretation</a:t>
            </a:r>
            <a:endParaRPr sz="2025" b="1" dirty="0">
              <a:solidFill>
                <a:srgbClr val="007F7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058A3B-8597-C6CC-DA73-8C524BC91D01}"/>
              </a:ext>
            </a:extLst>
          </p:cNvPr>
          <p:cNvSpPr>
            <a:spLocks noGrp="1"/>
          </p:cNvSpPr>
          <p:nvPr/>
        </p:nvSpPr>
        <p:spPr>
          <a:xfrm>
            <a:off x="4143375" y="43338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Complex wording may lead to incorrect interpretations.</a:t>
            </a:r>
          </a:p>
        </p:txBody>
      </p:sp>
    </p:spTree>
    <p:extLst>
      <p:ext uri="{BB962C8B-B14F-4D97-AF65-F5344CB8AC3E}">
        <p14:creationId xmlns:p14="http://schemas.microsoft.com/office/powerpoint/2010/main" val="298963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99A52D-3067-470F-B106-B7E0F6D3AD3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The review challenge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E4541A-54D7-4AC8-956C-471AD7DBC3E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99CCF8-28DC-43A3-BB5E-3C9F4D7F909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04</a:t>
            </a:r>
            <a:endParaRPr sz="1125" b="0" dirty="0">
              <a:solidFill>
                <a:srgbClr val="5266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ACE9E-DA05-42C5-B12E-9798A7B10BE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Precise alternative drafting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6B8C88-20EC-4148-BA0B-979DDE3017A1}"/>
              </a:ext>
            </a:extLst>
          </p:cNvPr>
          <p:cNvSpPr>
            <a:spLocks noGrp="1"/>
          </p:cNvSpPr>
          <p:nvPr/>
        </p:nvSpPr>
        <p:spPr>
          <a:xfrm>
            <a:off x="4143375" y="180975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Suggested wording must address the issue without creating ambiguity.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B6A8C-D6F3-4BD4-817B-2E9A45A3AA6C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Limited productivity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8CB6D9-24C1-44B4-B821-D1B9838DE654}"/>
              </a:ext>
            </a:extLst>
          </p:cNvPr>
          <p:cNvSpPr>
            <a:spLocks noGrp="1"/>
          </p:cNvSpPr>
          <p:nvPr/>
        </p:nvSpPr>
        <p:spPr>
          <a:xfrm>
            <a:off x="4143375" y="30003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Repetitive tasks limit the number of contracts reviewers can handle.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3F7F73-F064-444A-AEC3-B7DBD8C1D9AE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Usability and prompting barriers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5CE3DB-DB84-44AC-900A-4EBD3EB90FBF}"/>
              </a:ext>
            </a:extLst>
          </p:cNvPr>
          <p:cNvSpPr>
            <a:spLocks noGrp="1"/>
          </p:cNvSpPr>
          <p:nvPr/>
        </p:nvSpPr>
        <p:spPr>
          <a:xfrm>
            <a:off x="4143375" y="419100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Complex tools and unclear prompts make AI-assisted review harder to use.</a:t>
            </a:r>
            <a:endParaRPr sz="1875" b="0" dirty="0">
              <a:solidFill>
                <a:srgbClr val="142D3B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6903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3D05A7-D808-425F-B139-55421BA4C19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Project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F92C18-CF43-488D-AFBD-9B492A3A2B29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D1D49E-8978-4CAD-9E5E-BB018FA86F5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05</a:t>
            </a:r>
            <a:endParaRPr sz="1125" b="0" dirty="0">
              <a:solidFill>
                <a:srgbClr val="5266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812CC4-89F8-4549-9FD0-882488288C5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Supported inputs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CF11D-4EDF-47C9-9BDA-096ADD0D6011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5048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PDF and DOCX documents</a:t>
            </a:r>
          </a:p>
          <a:p>
            <a:endParaRPr sz="2025" b="0" dirty="0">
              <a:solidFill>
                <a:srgbClr val="142D3B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Complete contract text</a:t>
            </a:r>
          </a:p>
          <a:p>
            <a:endParaRPr sz="2025" b="0" dirty="0">
              <a:solidFill>
                <a:srgbClr val="142D3B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Separate</a:t>
            </a:r>
            <a:r>
              <a:rPr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 contractual clauses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8F98E-6A6A-4A7E-9D78-87629392EAD7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Review deliverables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8CE7A8-ADC4-4C3B-9173-0E3E7D8B5070}"/>
              </a:ext>
            </a:extLst>
          </p:cNvPr>
          <p:cNvSpPr>
            <a:spLocks noGrp="1"/>
          </p:cNvSpPr>
          <p:nvPr/>
        </p:nvSpPr>
        <p:spPr>
          <a:xfrm>
            <a:off x="6229350" y="2714625"/>
            <a:ext cx="5048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dirty="0"/>
              <a:t>R</a:t>
            </a:r>
            <a:r>
              <a:rPr sz="2025" b="0" dirty="0" err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isk</a:t>
            </a:r>
            <a:r>
              <a:rPr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 assessment</a:t>
            </a:r>
          </a:p>
          <a:p>
            <a:endParaRPr sz="2025" b="0" dirty="0">
              <a:solidFill>
                <a:srgbClr val="142D3B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Practical recommendations</a:t>
            </a:r>
          </a:p>
          <a:p>
            <a:endParaRPr sz="2025" b="0" dirty="0">
              <a:solidFill>
                <a:srgbClr val="142D3B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Proposed contractual </a:t>
            </a:r>
            <a:r>
              <a:rPr lang="en-GB" sz="2025" b="0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wording</a:t>
            </a:r>
            <a:endParaRPr sz="2025" b="0" dirty="0">
              <a:solidFill>
                <a:srgbClr val="142D3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5436FC-47E9-4C50-B8B4-6022F9CCE3BB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dirty="0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Initial review with qualified </a:t>
            </a:r>
            <a:r>
              <a:rPr lang="en-GB" sz="1875" b="1" dirty="0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lawyer</a:t>
            </a:r>
            <a:r>
              <a:rPr sz="1875" b="1" dirty="0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 approval</a:t>
            </a:r>
          </a:p>
        </p:txBody>
      </p:sp>
    </p:spTree>
    <p:extLst>
      <p:ext uri="{BB962C8B-B14F-4D97-AF65-F5344CB8AC3E}">
        <p14:creationId xmlns:p14="http://schemas.microsoft.com/office/powerpoint/2010/main" val="125963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0C152DE-CF16-44DA-811F-AA03EF2141B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The user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8CA70-E9BC-410D-BDD6-E9A9DA0784A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2AFA9B-6BFD-4B74-BF20-CB3F56A0CE9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06</a:t>
            </a:r>
            <a:endParaRPr sz="1125" b="0" dirty="0">
              <a:solidFill>
                <a:srgbClr val="5266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BCA8E7-612E-4633-8E0E-3C64F0B695D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210F4-BD39-439D-B020-52C49E2D2653}"/>
              </a:ext>
            </a:extLst>
          </p:cNvPr>
          <p:cNvSpPr>
            <a:spLocks noGrp="1"/>
          </p:cNvSpPr>
          <p:nvPr/>
        </p:nvSpPr>
        <p:spPr>
          <a:xfrm>
            <a:off x="4143375" y="180975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E93DC-633F-445B-9918-57BFCADAAB5B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0505FE-A180-4D62-93BE-EC8C742C7175}"/>
              </a:ext>
            </a:extLst>
          </p:cNvPr>
          <p:cNvSpPr>
            <a:spLocks noGrp="1"/>
          </p:cNvSpPr>
          <p:nvPr/>
        </p:nvSpPr>
        <p:spPr>
          <a:xfrm>
            <a:off x="4143375" y="30003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401159-96BE-4F63-B502-B9F94488062B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74F371-27B9-4EE3-A679-8F365C2EDDC8}"/>
              </a:ext>
            </a:extLst>
          </p:cNvPr>
          <p:cNvSpPr>
            <a:spLocks noGrp="1"/>
          </p:cNvSpPr>
          <p:nvPr/>
        </p:nvSpPr>
        <p:spPr>
          <a:xfrm>
            <a:off x="4143375" y="419100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020948-2A57-4A91-9F66-D0F9E56FE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05825" y="1104900"/>
            <a:ext cx="2457450" cy="50673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1EFFB5-1CE1-44A0-BCE5-A2FAA590892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95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01  Submit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ECD78-A748-4F32-9282-0412BC6A4FF0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Send a message, PDF, or DOCX.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90ABA3-77AC-4B6F-B2D6-537F5A775876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695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02 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3C668F-684C-418F-83B2-80B2AD357060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Route the input and prepare the review.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F27E3-E7BF-4C05-BA4F-1325A672A349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695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03  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DA9254-07E6-41C7-9C1E-9355976A1F0B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Receive findings for legal assessment.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E7D0AA-F7FD-459E-9B45-24C8D7CE0D3D}"/>
              </a:ext>
            </a:extLst>
          </p:cNvPr>
          <p:cNvSpPr>
            <a:spLocks noGrp="1"/>
          </p:cNvSpPr>
          <p:nvPr/>
        </p:nvSpPr>
        <p:spPr>
          <a:xfrm>
            <a:off x="8572500" y="61531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Telegram entry screen</a:t>
            </a:r>
          </a:p>
        </p:txBody>
      </p:sp>
    </p:spTree>
    <p:extLst>
      <p:ext uri="{BB962C8B-B14F-4D97-AF65-F5344CB8AC3E}">
        <p14:creationId xmlns:p14="http://schemas.microsoft.com/office/powerpoint/2010/main" val="202994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B4D60C-417C-46DA-AB39-90177E42F21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Workflow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5E44-3F6E-44DA-B47D-227C174C81D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D9D8F7-A007-49A4-8DE9-DDCF6E8784A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07</a:t>
            </a:r>
            <a:endParaRPr sz="1125" b="0" dirty="0">
              <a:solidFill>
                <a:srgbClr val="5266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DD50A-89F8-49A1-B720-1FFE6A65472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200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Final workflow with saved language preference and review prompt loading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331371-1605-0C4B-3BCE-0951D63C8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4" y="1625470"/>
            <a:ext cx="11440886" cy="360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9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295103-94AC-4B25-9396-BE2740628D9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dirty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DOCX processing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380327-DA48-4219-BA54-916A23AF8A21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F04DFE-C3E4-490D-9B9A-4AB0F6356A7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08</a:t>
            </a:r>
            <a:endParaRPr sz="1125" b="0" dirty="0">
              <a:solidFill>
                <a:srgbClr val="5266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2A150-CCEA-4385-954A-1F293541AA3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AACAE-BDAA-4A4B-934F-CFEE785A6C3B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5048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24FB2-AE40-4A14-B8C8-2A998EE5612D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504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25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1E9D0-7747-449C-9336-B2E7DECF39A7}"/>
              </a:ext>
            </a:extLst>
          </p:cNvPr>
          <p:cNvSpPr>
            <a:spLocks noGrp="1"/>
          </p:cNvSpPr>
          <p:nvPr/>
        </p:nvSpPr>
        <p:spPr>
          <a:xfrm>
            <a:off x="6229350" y="2714625"/>
            <a:ext cx="5048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BE630C-D5A3-4FB1-ADCE-936ABCA81072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BB2F02-7BBC-49B4-9FE5-AA0B7155CCA4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Download, extract XML, prepare the review prompt, and route processing failures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6150FB-A609-0A7A-94A2-B76A13E68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6" y="1132114"/>
            <a:ext cx="11680373" cy="48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C9AD2E-CD0F-43ED-BA21-7959EBC95E1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Language preference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097C7B-C4C7-4B67-A56A-F4E8A93D372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0C9F64-0573-416E-B101-49004E4609D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09</a:t>
            </a:r>
            <a:endParaRPr sz="1125" b="0" dirty="0">
              <a:solidFill>
                <a:srgbClr val="52667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629CD-7080-47BD-9DDB-72F9FA1EE3D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D909B-7A41-4C02-BC91-1E8D04F89DDE}"/>
              </a:ext>
            </a:extLst>
          </p:cNvPr>
          <p:cNvSpPr>
            <a:spLocks noGrp="1"/>
          </p:cNvSpPr>
          <p:nvPr/>
        </p:nvSpPr>
        <p:spPr>
          <a:xfrm>
            <a:off x="4143375" y="180975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3F8C7-4ED7-4200-802E-FC8C3EDA5E2D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9B035-7FCF-4088-9980-19B7331944E4}"/>
              </a:ext>
            </a:extLst>
          </p:cNvPr>
          <p:cNvSpPr>
            <a:spLocks noGrp="1"/>
          </p:cNvSpPr>
          <p:nvPr/>
        </p:nvSpPr>
        <p:spPr>
          <a:xfrm>
            <a:off x="4143375" y="30003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6CAFB-194D-49EC-9696-3F564E2D4B87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739C68-ED54-4149-9E5E-75232883DDC3}"/>
              </a:ext>
            </a:extLst>
          </p:cNvPr>
          <p:cNvSpPr>
            <a:spLocks noGrp="1"/>
          </p:cNvSpPr>
          <p:nvPr/>
        </p:nvSpPr>
        <p:spPr>
          <a:xfrm>
            <a:off x="4143375" y="419100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01EBE2-DF26-4CED-9FEB-D34FBF50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4376" y="1171575"/>
            <a:ext cx="7618947" cy="51911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12FE1E-0008-4CAB-90E1-C651FACB1743}"/>
              </a:ext>
            </a:extLst>
          </p:cNvPr>
          <p:cNvSpPr>
            <a:spLocks noGrp="1"/>
          </p:cNvSpPr>
          <p:nvPr/>
        </p:nvSpPr>
        <p:spPr>
          <a:xfrm>
            <a:off x="8191500" y="176212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Detect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2B2640-8276-4BA5-AC11-4D5E5CFBD3D6}"/>
              </a:ext>
            </a:extLst>
          </p:cNvPr>
          <p:cNvSpPr>
            <a:spLocks noGrp="1"/>
          </p:cNvSpPr>
          <p:nvPr/>
        </p:nvSpPr>
        <p:spPr>
          <a:xfrm>
            <a:off x="8191500" y="2286000"/>
            <a:ext cx="323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Read the language signal in the incoming message.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7DFC68-B42C-45B7-846F-C9481214AA53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Save or retrieve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BEC6A1-F37B-465D-8063-025562515C23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323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Store a preference or reuse the saved chat language.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B1BD66-67C8-4418-92B2-7CF2510D21ED}"/>
              </a:ext>
            </a:extLst>
          </p:cNvPr>
          <p:cNvSpPr>
            <a:spLocks noGrp="1"/>
          </p:cNvSpPr>
          <p:nvPr/>
        </p:nvSpPr>
        <p:spPr>
          <a:xfrm>
            <a:off x="8191500" y="490537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Resolve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0E5346-C3B2-43C4-B11B-C65B6C70342B}"/>
              </a:ext>
            </a:extLst>
          </p:cNvPr>
          <p:cNvSpPr>
            <a:spLocks noGrp="1"/>
          </p:cNvSpPr>
          <p:nvPr/>
        </p:nvSpPr>
        <p:spPr>
          <a:xfrm>
            <a:off x="8191500" y="5429250"/>
            <a:ext cx="3238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Pass one response language to the review workflow.</a:t>
            </a:r>
          </a:p>
        </p:txBody>
      </p:sp>
    </p:spTree>
    <p:extLst>
      <p:ext uri="{BB962C8B-B14F-4D97-AF65-F5344CB8AC3E}">
        <p14:creationId xmlns:p14="http://schemas.microsoft.com/office/powerpoint/2010/main" val="118004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70A3E4-9ECA-4082-B29A-8519BB46999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rPr>
              <a:t>The twelve-rule legal checklist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B55CE0-9CDA-4F09-B7CB-7E6FDA205269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315E58-AFDA-434B-A658-2EF5E4D04BE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526671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526671"/>
                </a:solidFill>
                <a:latin typeface="DejaVu Sans"/>
                <a:ea typeface="DejaVu Sans"/>
                <a:cs typeface="DejaVu Sans"/>
              </a:rPr>
              <a:t>10</a:t>
            </a:r>
            <a:endParaRPr sz="1125" b="0" dirty="0">
              <a:solidFill>
                <a:srgbClr val="526671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0085A6-8E0C-4AFA-9EE3-54BE5089B023}"/>
              </a:ext>
            </a:extLst>
          </p:cNvPr>
          <p:cNvGraphicFramePr/>
          <p:nvPr/>
        </p:nvGraphicFramePr>
        <p:xfrm>
          <a:off x="609600" y="1762125"/>
          <a:ext cx="10972800" cy="33337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terms</a:t>
                      </a:r>
                    </a:p>
                  </a:txBody>
                  <a:tcPr>
                    <a:lnL w="9525">
                      <a:solidFill>
                        <a:srgbClr val="CBD5D5"/>
                      </a:solidFill>
                      <a:prstDash val="soli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>
                      <a:solidFill>
                        <a:srgbClr val="CBD5D5"/>
                      </a:solidFill>
                      <a:prstDash val="soli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 allocation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>
                      <a:solidFill>
                        <a:srgbClr val="CBD5D5"/>
                      </a:solidFill>
                      <a:prstDash val="soli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Legal framework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>
                      <a:solidFill>
                        <a:srgbClr val="CBD5D5"/>
                      </a:solidFill>
                      <a:prstDash val="soli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  Parties</a:t>
                      </a:r>
                    </a:p>
                  </a:txBody>
                  <a:tcPr>
                    <a:lnL w="9525">
                      <a:solidFill>
                        <a:srgbClr val="CBD5D5"/>
                      </a:solidFill>
                      <a:prstDash val="soli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05  Termination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09  Intellectual property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02  Scope of services</a:t>
                      </a:r>
                    </a:p>
                  </a:txBody>
                  <a:tcPr>
                    <a:lnL w="9525">
                      <a:solidFill>
                        <a:srgbClr val="CBD5D5"/>
                      </a:solidFill>
                      <a:prstDash val="soli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06  Limitation of liability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 Data protection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EB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03  Payment</a:t>
                      </a:r>
                    </a:p>
                  </a:txBody>
                  <a:tcPr>
                    <a:lnL w="9525">
                      <a:solidFill>
                        <a:srgbClr val="CBD5D5"/>
                      </a:solidFill>
                      <a:prstDash val="soli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07  Indemnity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  Governing law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04  Term and renewal</a:t>
                      </a:r>
                    </a:p>
                  </a:txBody>
                  <a:tcPr>
                    <a:lnL w="9525">
                      <a:solidFill>
                        <a:srgbClr val="CBD5D5"/>
                      </a:solidFill>
                      <a:prstDash val="soli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08  Confidentiality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EB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 Dispute resolution</a:t>
                      </a:r>
                    </a:p>
                  </a:txBody>
                  <a:tcPr>
                    <a:lnL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D5"/>
                      </a:solidFill>
                      <a:prstDash val="solid"/>
                    </a:lnR>
                    <a:lnT w="9525" cap="flat" cmpd="sng" algn="ctr">
                      <a:solidFill>
                        <a:srgbClr val="CB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D5"/>
                      </a:solidFill>
                      <a:prstDash val="solid"/>
                    </a:lnB>
                    <a:solidFill>
                      <a:srgbClr val="EB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EE51BC-629D-4D09-BFA2-BD809B76B814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B"/>
                </a:solidFill>
                <a:latin typeface="DejaVu Sans"/>
                <a:ea typeface="DejaVu Sans"/>
                <a:cs typeface="DejaVu Sans"/>
              </a:rPr>
              <a:t>Additional material issues receive separate observations</a:t>
            </a:r>
          </a:p>
        </p:txBody>
      </p:sp>
    </p:spTree>
    <p:extLst>
      <p:ext uri="{BB962C8B-B14F-4D97-AF65-F5344CB8AC3E}">
        <p14:creationId xmlns:p14="http://schemas.microsoft.com/office/powerpoint/2010/main" val="33013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8045DE-86B7-43E9-B269-2DA955709021}"/>
              </a:ext>
            </a:extLst>
          </p:cNvPr>
          <p:cNvSpPr>
            <a:spLocks noGrp="1"/>
          </p:cNvSpPr>
          <p:nvPr/>
        </p:nvSpPr>
        <p:spPr>
          <a:xfrm>
            <a:off x="426720" y="228600"/>
            <a:ext cx="11277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1">
                <a:solidFill>
                  <a:srgbClr val="007F7B"/>
                </a:solidFill>
                <a:latin typeface="DejaVu Sans"/>
                <a:ea typeface="DejaVu Sans"/>
                <a:cs typeface="DejaVu Sans"/>
              </a:defRPr>
            </a:pPr>
            <a:r>
              <a:rPr sz="1200"/>
              <a:t>AI CONTRACT 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22555-5DAD-431C-A087-D7F69E5F1476}"/>
              </a:ext>
            </a:extLst>
          </p:cNvPr>
          <p:cNvSpPr>
            <a:spLocks noGrp="1"/>
          </p:cNvSpPr>
          <p:nvPr/>
        </p:nvSpPr>
        <p:spPr>
          <a:xfrm>
            <a:off x="426720" y="571500"/>
            <a:ext cx="11277600" cy="472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142D3B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2800" dirty="0"/>
              <a:t>Problems and workflow solutions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61EF45-C8F5-48F2-9653-512326023EFD}"/>
              </a:ext>
            </a:extLst>
          </p:cNvPr>
          <p:cNvGraphicFramePr/>
          <p:nvPr/>
        </p:nvGraphicFramePr>
        <p:xfrm>
          <a:off x="426720" y="1257300"/>
          <a:ext cx="11338560" cy="48006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>
                      <a:solidFill>
                        <a:srgbClr val="D8DFDC"/>
                      </a:solidFill>
                      <a:prstDash val="soli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AI CONTRACT HUB SOLUTION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>
                      <a:solidFill>
                        <a:srgbClr val="D8DFDC"/>
                      </a:solidFill>
                      <a:prstDash val="soli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PRACTICAL BENEFIT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>
                      <a:solidFill>
                        <a:srgbClr val="D8DFDC"/>
                      </a:solidFill>
                      <a:prstDash val="soli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142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Time-consuming review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Extracts PDF/DOCX text and prepares</a:t>
                      </a:r>
                    </a:p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structured initial review.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Less manual preparation and</a:t>
                      </a:r>
                    </a:p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faster first review draft.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Human error and omissions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Applies a 12-rule checklist and flags</a:t>
                      </a:r>
                    </a:p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gaps with clause references.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More consistent coverage and</a:t>
                      </a:r>
                    </a:p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easier verification by reviewers.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Misinterpretation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Explains clauses with original quotations</a:t>
                      </a:r>
                    </a:p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and translations into the response language.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Clearer understanding and</a:t>
                      </a:r>
                    </a:p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easier comparison with the source.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Understanding the issue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Links each finding to the affected party,</a:t>
                      </a:r>
                    </a:p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contractual context and practical impact.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Better-informed prioritization</a:t>
                      </a:r>
                    </a:p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and negotiation decisions.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Precise alternative drafting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Suggests issue-specific replacement wording</a:t>
                      </a:r>
                    </a:p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 Arabic or English for lawyer approval.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practical drafting starting point</a:t>
                      </a:r>
                    </a:p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and less initial rewriting.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Limited productivity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Automates extraction, initial analysis</a:t>
                      </a:r>
                    </a:p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and delivery of organized findings.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More reviewer time for complex</a:t>
                      </a:r>
                    </a:p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issues and professional judgment.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Usability and</a:t>
                      </a:r>
                    </a:p>
                    <a:p>
                      <a:r>
                        <a:rPr sz="1400" b="1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prompting barriers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8DFDC"/>
                      </a:solidFill>
                      <a:prstDash val="soli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Uses Telegram uploads or pasted text,</a:t>
                      </a:r>
                    </a:p>
                    <a:p>
                      <a:r>
                        <a:rPr sz="1400" b="0">
                          <a:solidFill>
                            <a:srgbClr val="142D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saved language preferences and built-in prompts.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familiar interface with</a:t>
                      </a:r>
                    </a:p>
                    <a:p>
                      <a:r>
                        <a:rPr sz="1400" b="0">
                          <a:solidFill>
                            <a:srgbClr val="00696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less prompt-writing effort.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DFDC"/>
                      </a:solidFill>
                      <a:prstDash val="solid"/>
                    </a:lnR>
                    <a:lnT w="9525" cap="flat" cmpd="sng" algn="ctr">
                      <a:solidFill>
                        <a:srgbClr val="D8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D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A660A47-4B7D-43CE-AAF8-9A52BAFDEE6E}"/>
              </a:ext>
            </a:extLst>
          </p:cNvPr>
          <p:cNvSpPr>
            <a:spLocks noGrp="1"/>
          </p:cNvSpPr>
          <p:nvPr/>
        </p:nvSpPr>
        <p:spPr>
          <a:xfrm>
            <a:off x="426720" y="6301740"/>
            <a:ext cx="1133856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425" b="0">
                <a:solidFill>
                  <a:srgbClr val="52646A"/>
                </a:solidFill>
                <a:latin typeface="DejaVu Sans"/>
                <a:ea typeface="DejaVu Sans"/>
                <a:cs typeface="DejaVu Sans"/>
              </a:defRPr>
            </a:pPr>
            <a:r>
              <a:rPr sz="1140" dirty="0"/>
              <a:t>All findings and proposed clauses require qualified human review.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8DD53-F625-06CB-A65C-A986F6B6BDD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chemeClr val="tx1"/>
                </a:solidFill>
                <a:latin typeface="DejaVu Sans"/>
                <a:ea typeface="DejaVu Sans"/>
                <a:cs typeface="DejaVu Sans"/>
              </a:rPr>
              <a:t>11</a:t>
            </a:r>
            <a:endParaRPr sz="1125" b="0" dirty="0">
              <a:solidFill>
                <a:schemeClr val="tx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16901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08BDFB-D806-45D5-AB44-10920B748E4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477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22C85-1187-4CBD-8DE6-87E371D24A98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DDBD7D"/>
                </a:solidFill>
                <a:latin typeface="DejaVu Sans"/>
                <a:ea typeface="DejaVu Sans"/>
                <a:cs typeface="DejaVu Sans"/>
              </a:rPr>
              <a:t>Questions and 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DAEAEC-A024-4A01-A498-9EBFEF3B613E}"/>
              </a:ext>
            </a:extLst>
          </p:cNvPr>
          <p:cNvSpPr>
            <a:spLocks noGrp="1"/>
          </p:cNvSpPr>
          <p:nvPr/>
        </p:nvSpPr>
        <p:spPr>
          <a:xfrm>
            <a:off x="647700" y="4810125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AED98-9A3D-4FF9-AF16-401B19008472}"/>
              </a:ext>
            </a:extLst>
          </p:cNvPr>
          <p:cNvSpPr>
            <a:spLocks noGrp="1"/>
          </p:cNvSpPr>
          <p:nvPr/>
        </p:nvSpPr>
        <p:spPr>
          <a:xfrm>
            <a:off x="647700" y="5353050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DBD7D"/>
                </a:solidFill>
                <a:latin typeface="DejaVu Sans"/>
                <a:ea typeface="DejaVu Sans"/>
                <a:cs typeface="DejaVu Sans"/>
              </a:rPr>
              <a:t>CAI5_IND6_G1     Group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5CD6A-3584-4251-98CC-EEFF73B0370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AI CONTRACT HUB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5E917-2ADB-4593-B5E2-8BAD19FF444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112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</a:t>
            </a:r>
            <a:endParaRPr sz="1125" b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504520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605</Words>
  <Application>Microsoft Office PowerPoint</Application>
  <DocSecurity>0</DocSecurity>
  <PresentationFormat>Widescreen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Fady Medhat</cp:lastModifiedBy>
  <cp:revision>1</cp:revision>
  <dcterms:created xsi:type="dcterms:W3CDTF">2026-10-19T21:15:06Z</dcterms:created>
  <dcterms:modified xsi:type="dcterms:W3CDTF">2026-10-23T00:26:34Z</dcterms:modified>
</cp:coreProperties>
</file>